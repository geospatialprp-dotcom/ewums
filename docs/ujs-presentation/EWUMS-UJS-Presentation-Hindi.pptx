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सुप्रभात। आज हम EWUMS प्रस्तुत कर रहे हैं — UJS के लिए योजना, निर्माण, GIS, संचालन, बिलिंग और कार्यकारी देखरेख को कवर करने वाला एक एकीकृत डिजिटल मंच।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अधिकारी योजनाओं का प्रबंधन करने के बजाय डेटा का मिलान करने में समय व्यतीत करते हैं। EWUMS इसे अंत से अंत तक संबोधित करता है।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प्रस्ताव से अंतिम बिल तक, प्रत्येक चरण भूमिका-आधारित अनुमोदन के साथ दर्ज (JE → AE → EE → वित्त)।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लाइव डेमो — 2 मिनट। demo-seed.sql लागू करके अभ्यास करें।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लाइव डेमो — 4 मिनट।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लाइव डेमो — 4 मिनट।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के दौरान कनेक्टिविटी अनुमति देने पर ब्राउज़र में खोलें।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615" y="320040"/>
            <a:ext cx="1844040" cy="1005840"/>
          </a:xfrm>
          <a:prstGeom prst="rect">
            <a:avLst/>
          </a:prstGeom>
        </p:spPr>
      </p:pic>
      <p:pic>
        <p:nvPicPr>
          <p:cNvPr id="6" name="Picture 5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480560"/>
            <a:ext cx="1424940" cy="777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9728"/>
            <a:ext cx="12191695" cy="2926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48640"/>
            <a:ext cx="85340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Nirmala UI"/>
              </a:rPr>
              <a:t>उत्तराखंड जल संस्थान के लिए
एकीकृत जल उपयोगिता प्रबंधन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F97316"/>
                </a:solidFill>
                <a:latin typeface="Nirmala UI"/>
              </a:rPr>
              <a:t>एकीकृत जल उपयोगिता प्रबंधन प्रणाली — UJS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09115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4748B"/>
                </a:solidFill>
                <a:latin typeface="Nirmala UI"/>
              </a:rPr>
              <a:t>EWUMS — उद्यम जल उपयोगिता प्रबंधन प्रणाली (S2T2R)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Nirmala UI"/>
              </a:rPr>
              <a:t>https://ewumsujs.com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UJS को एकीकृत मंच की आवश्यकता क्यों है</a:t>
            </a:r>
          </a:p>
          <a:p>
            <a:r>
              <a:rPr sz="1800" b="0">
                <a:solidFill>
                  <a:srgbClr val="F97316"/>
                </a:solidFill>
                <a:latin typeface="Nirmala UI"/>
              </a:rPr>
              <a:t>चुनौती — बिखरी हुई जानकारी और मैन्युअल प्रक्रियाएँ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योजनाएँ स्प्रेडशीट, फ़ाइलों और अलग-अलग GIS उपकरणों में ट्रैक होती हैं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भौतिक बनाम वित्तीय प्रगति पर देरी से दृश्यता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मंडल-वार डेटा सिलो (गढ़वाल / कुमाऊँ सर्कल)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उपभोक्ता बिलिंग, शिकायतें और O&amp;M मानचित्र पर संपत्तियों से जुड़े नहीं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ऑडिट और अनुमोदन ट्रेल पुनर्निर्माण करना कठिन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EWUMS — एक मंच, पूर्ण जीवनचक्र</a:t>
            </a:r>
          </a:p>
          <a:p>
            <a:r>
              <a:rPr sz="1800" b="0">
                <a:solidFill>
                  <a:srgbClr val="F97316"/>
                </a:solidFill>
                <a:latin typeface="Nirmala UI"/>
              </a:rPr>
              <a:t>समाधान — योजना से O&amp;M तक एक ही प्रणाली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21 एकीकृत मॉड्यूल — 17 आज ewumsujs.com पर लाइव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DPR → निर्माण → MB → RA बिल → अंतिम बिल → GIS हस्तांतरण → O&amp;M → बिलिंग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UJS क्षेत्र संरचना के अनुरूप मंडल-स्कोप पहुँच (Migration 084 मंडल)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जिला सीमाओं के साथ वेब GIS (देहरादून, हरिद्वार, राज्यव्यापी)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मोबाइल बिलिंग और उपभोक्ता पोर्टल (जल मित्र)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UJS संगठन संरचना के लिए निर्मित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irmala UI"/>
                        </a:rPr>
                        <a:t>स्तर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irmala UI"/>
                        </a:rPr>
                        <a:t>भूमिकाएँ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irmala UI"/>
                        </a:rPr>
                        <a:t>मंच पहुँच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राज्य मुख्यालय (देहरादून)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MD, CGM, 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राज्यव्यापी डैशबोर्ड और सभी मंडल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सर्कल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SE गढ़वाल / कुमाऊँ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सर्कल-व्यापी योजनाएँ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मंडल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EE, AE, 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मंडल-स्कोप परियोजनाएँ और GIS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क्षेत्र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ठेकेदार, लेखा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निर्माण वर्कफ़्लो और भुगतान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नागरिक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उपभोक्ता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जल मित्र पोर्टल — बिल, शिकायतें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Nirmala UI"/>
              </a:rPr>
              <a:t>संदर्भ मंडल: देहरादून उत्तर (DIV-DNN), हरिद्वार ग्रामीण (DIV-HRR), करणप्रयाग (DIV-KPG), नैनीताल (DIV-NTL)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योजना एवं निर्माण — लाइव मॉड्यूल</a:t>
            </a:r>
          </a:p>
          <a:p>
            <a:r>
              <a:rPr sz="1800" b="0">
                <a:solidFill>
                  <a:srgbClr val="F97316"/>
                </a:solidFill>
                <a:latin typeface="Nirmala UI"/>
              </a:rPr>
              <a:t>योजना एवं निर्माण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1.  DPR और योजना प्रबंधन — 12-चरण अनुमोदन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2.  निर्माण प्रबंधन — प्रगति डैशबोर्ड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3.  MB प्रबंधन — माप और सत्यापन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4.  BOQ और मात्रा समाधान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5.  RA बिल और ठेकेदार भुगतान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6.  अंतिम बिल और परियोजना समापन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7.  भूमि अधिग्रहण प्रबंधन — GIS पार्सल ट्रेस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GIS, संचालन और राजस्व — लाइव मॉड्यूल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Nirmala UI"/>
              </a:rPr>
              <a:t>GIS और संपत्ति: </a:t>
            </a:r>
            <a:r>
              <a:rPr sz="1600" b="0">
                <a:solidFill>
                  <a:srgbClr val="1E293B"/>
                </a:solidFill>
                <a:latin typeface="Nirmala UI"/>
              </a:rPr>
              <a:t>वेब मानचित्र एक्सप्लोरर, संपत्ति रजिस्ट्री, फ़ीचर क्लास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Nirmala UI"/>
              </a:rPr>
              <a:t>संचालन: </a:t>
            </a:r>
            <a:r>
              <a:rPr sz="1600" b="0">
                <a:solidFill>
                  <a:srgbClr val="1E293B"/>
                </a:solidFill>
                <a:latin typeface="Nirmala UI"/>
              </a:rPr>
              <a:t>O&amp;M वर्कफ़्लो (14 चरण), SCADA/IoT, जल गुणवत्ता, शिकायतें, उपभोक्ता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Nirmala UI"/>
              </a:rPr>
              <a:t>वाणिज्यिक: </a:t>
            </a:r>
            <a:r>
              <a:rPr sz="1600" b="0">
                <a:solidFill>
                  <a:srgbClr val="1E293B"/>
                </a:solidFill>
                <a:latin typeface="Nirmala UI"/>
              </a:rPr>
              <a:t>बिलिंग और राजस्व, ERP/GL एकीकरण, 15.12 रिपोर्ट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Nirmala UI"/>
              </a:rPr>
              <a:t>बुद्धिमत्ता: </a:t>
            </a:r>
            <a:r>
              <a:rPr sz="1600" b="0">
                <a:solidFill>
                  <a:srgbClr val="1E293B"/>
                </a:solidFill>
                <a:latin typeface="Nirmala UI"/>
              </a:rPr>
              <a:t>कार्यकारी डैशबोर्ड, संपत्ति जीवनचक्र, एनालिटिक्स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Nirmala UI"/>
              </a:rPr>
              <a:t>आंशिक (रोडमैप): मोबाइल कार्यबल विस्तार, एंटरप्राइज DMS, QR स्कैन ऐप, ML predictive maintenance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स्थान — सामान्य धागा</a:t>
            </a:r>
          </a:p>
          <a:p>
            <a:r>
              <a:rPr sz="1800" b="0">
                <a:solidFill>
                  <a:srgbClr val="F97316"/>
                </a:solidFill>
                <a:latin typeface="Nirmala UI"/>
              </a:rPr>
              <a:t>GIS — हर संपत्ति और योजना मानचित्र पर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जिला-लॉक मानचित्र अधिकार क्षेत्र (देहरादून, हरिद्वार)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पाइपलाइन, जलाशय, FHTC परतें परियोजनाओं से जुड़ी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भूमि अधिग्रहण: स्वचालित संरेखण ट्रेस + कैडास्ट्रल इंटरसेक्ट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राजस्व GIS एनालिटिक्स — भूगोल के अनुसार संग्रह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क्षेत्र सत्यापन के लिए उपग्रह बेसमैप (Google / Esri)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Nirmala UI"/>
              </a:rPr>
              <a:t>डेमो: Map Explorer → देहरादून जिला → योजना संपत्तियाँ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डेमो 1 — कमांड सेंटर</a:t>
            </a:r>
          </a:p>
          <a:p>
            <a:r>
              <a:rPr sz="1800" b="0">
                <a:solidFill>
                  <a:srgbClr val="F97316"/>
                </a:solidFill>
                <a:latin typeface="Nirmala UI"/>
              </a:rPr>
              <a:t>कार्यकारी डैशबोर्ड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820095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लॉगिन: admin@egip.local / Admin@123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नेविगेट: साइडबार → Executive Dashboard (/dashboard)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दिखाएँ: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पाँच KPI कार्ड — संपत्ति, अलर्ट, महत्वपूर्ण संपत्ति, परियोजना प्रगति, स्वास्थ्य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परियोजना प्रगति चार्ट — क्लेमेंट टाउन और बहादराबाद योजनाएँ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महत्वपूर्ण संपत्ति तालिका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20 मंच मॉड्यूल का लिंक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स्क्रिप्ट: "एक स्क्रीन से, नेतृत्व राज्यव्यापी स्वास्थ्य देखता है। प्रत्येक KPI PostgreSQL से लाइव है — स्थिर रिपोर्ट नहीं।"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डेमो 2 — योजना कार्यान्वयन</a:t>
            </a:r>
          </a:p>
          <a:p>
            <a:r>
              <a:rPr sz="1800" b="0">
                <a:solidFill>
                  <a:srgbClr val="F97316"/>
                </a:solidFill>
                <a:latin typeface="Nirmala UI"/>
              </a:rPr>
              <a:t>निर्माण प्रवाह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820095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लॉगिन: je.dnn@egip.local / JE@123 (देहरादून उत्तर JE)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नेविगेट: Projects → Clement Town Water Supply Scheme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दिखाएँ: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निर्माण डैशबोर्ड — भौतिक 72% / वित्तीय 65%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MB प्रविष्टि (माप पुस्तक)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BOQ समाधान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RA बिल AE अनुमोदन लंबित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वर्कफ़्लो इनबॉक्स — AE के रूप में अनुमोदित करें (ae.dnn@egip.local)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स्क्रिप्ट: "मंडल कर्मचारी केवल अपनी योजनाएँ देखते हैं। JE मापता है, AE जाँचता है, EE अनुमोदित करता है — पूर्ण ऑडिट ट्रेल।"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डेमो 3 — राजस्व और नागरिक सेवा</a:t>
            </a:r>
          </a:p>
          <a:p>
            <a:r>
              <a:rPr sz="1800" b="0">
                <a:solidFill>
                  <a:srgbClr val="F97316"/>
                </a:solidFill>
                <a:latin typeface="Nirmala UI"/>
              </a:rPr>
              <a:t>बिलिंग एवं शिकायत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820095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लॉगिन: accounts.hrr@egip.local / Accounts@123 (हरिद्वार ग्रामीण)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नेविगेट: Billing → Revenue KPIs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दिखाएँ: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उपभोक्ता कनेक्शन और संग्रह दक्षता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बहादराबाद उपभोक्ता के लिए नमूना बिल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शिकायत रजिस्टर (यदि सीड किया गया)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  • वैकल्पिक: जल मित्र उपभोक्ता पोर्टल — FHTC-HRR-DEMO-001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B"/>
                </a:solidFill>
                <a:latin typeface="Nirmala UI"/>
              </a:rPr>
              <a:t>•  स्क्रिप्ट: "कमीशनिंग के बाद, वही मंच टैरिफ, मीटर रीडिंग और उपभोक्ता स्व-सेवा का प्रबंधन करता है।"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क्षेत्र संचालन — मोबाइल तैयार</a:t>
            </a:r>
          </a:p>
          <a:p>
            <a:r>
              <a:rPr sz="1800" b="0">
                <a:solidFill>
                  <a:srgbClr val="F97316"/>
                </a:solidFill>
                <a:latin typeface="Nirmala UI"/>
              </a:rPr>
              <a:t>मोबाइल — क्षेत्र बिलिंग और GPS कैप्चर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मोबाइल बिलिंग मार्ग (/mobile-billing) — मीटर रीडिंग, ऑफ़लाइन कतार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रीडिंग पर GPS और फ़ोटो साक्ष्य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उपभोक्ता पोर्टल — OTP लॉगिन, हिंदी/अंग्रेज़ी/गढ़वाली/कुमाऊँ (जल मित्र)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QR संपत्ति पहचान (आंशिक — स्कैन API लाइव, समर्पित ऐप रोडमैप)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विश्वास और अनुपालन</a:t>
            </a:r>
          </a:p>
          <a:p>
            <a:r>
              <a:rPr sz="1800" b="0">
                <a:solidFill>
                  <a:srgbClr val="F97316"/>
                </a:solidFill>
                <a:latin typeface="Nirmala UI"/>
              </a:rPr>
              <a:t>सुरक्षा, ऑडिट ट्रेल और मंडल पहुँच नियंत्रण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भूमिका-आधारित पहुँच — 25+ UJS भूमिकाएँ (MD, SE, EE, JE, बिलिंग अधिकारी, आदि)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मंडल अलगाव — हरिद्वार JE देहरादून उत्तर डेटा नहीं देख सकता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पूर्ण ऑडिट लॉग — उपयोगकर्ता क्रियाएँ, वर्कफ़्लो इवेंट, मानचित्र पहुँच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वर्कफ़्लो इंजन — कॉन्फ़िगर करने योग्य JE → AE → EE → वित्त श्रृंखलाएँ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सत्र प्रमाणीकरण — JWT, प्रत्येक API पर अनुमति गार्ड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Nirmala UI"/>
              </a:rPr>
              <a:t>डेमो: Audit Trail — पिछले 24 घंटे फ़िल्टर करें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प्रस्तावित पायलट — देहरादून उत्तर मंडल</a:t>
            </a:r>
          </a:p>
          <a:p>
            <a:r>
              <a:rPr sz="1800" b="0">
                <a:solidFill>
                  <a:srgbClr val="F97316"/>
                </a:solidFill>
                <a:latin typeface="Nirmala UI"/>
              </a:rPr>
              <a:t>90-दिवसीय पायलट प्रस्ताव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दायरा: 1 मंडल (DIV-DNN), 1–2 सक्रिय योजनाएँ, पूर्ण निर्माण + O&amp;M + बिलिंग चक्र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समयरेखा: 90 दिन — PILOT-PLAN-90-DAYS.md देखें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पायलट मंडल के लिए 100% योजना डेटा डिजिटाइज़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RA बिल चक्र समय 30% कम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EE/SE द्वारा साप्ताहिक कार्यकारी डैशबोर्ड समीक्षा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50+ क्षेत्र कर्मचारी प्रशिक्षित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अपेक्षित लाभ और ROI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irmala UI"/>
                        </a:rPr>
                        <a:t>क्षेत्र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irmala UI"/>
                        </a:rPr>
                        <a:t>वर्तमान समस्या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irmala UI"/>
                        </a:rPr>
                        <a:t>EWUMS लाभ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प्रगति रिपोर्टिंग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मैन्युअल समेकन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रियल-टाइम डैशबोर्ड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भुगतान में देरी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कागज़ MB → RA अंतराल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डिजिटल वर्कफ़्लो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संपत्ति रिकॉर्ड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असंबद्ध GIS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एकल रजिस्ट्री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उपभोक्ता सेवा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केवल फ़ोन शिकायतें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पोर्टल + SLA ट्रैकिंग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ऑडिट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फ़ाइल पुनर्निर्माण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Nirmala UI"/>
                        </a:rPr>
                        <a:t>अपरिवर्तनीय ऑडिट लॉग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Nirmala UI"/>
              </a:rPr>
              <a:t>गुणात्मक ROI: तेज़ निर्णय, डुप्लिकेट डेटा प्रविष्टि में कमी, SFC/GoUK रिपोर्टिंग के लिए बेहतर निधि उपयोग दृश्यता।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PRP Geospatial Solutions — आपका कार्यान्वयन साझेदार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EWUMS/S2T2R का उत्पाद स्वामी और कार्यान्वयनकर्ता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उत्तराखंड-केंद्रित GIS और जल उपयोगिता डोमेन विशेषज्ञता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Migration 084 मंडल संरचना पहले से कॉन्फ़िगर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होस्टिंग: ewumsujs.com (प्रोडक्शन-तैयार डेमो वातावरण)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सहायता मॉडल: प्रशिक्षण, डेटा माइग्रेशन, चरणबद्ध रोलआउट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Nirmala UI"/>
              </a:rPr>
              <a:t>संपर्क: PRP Geospatial Solutions — [बैठक के लिए संपर्क विवरण जोड़ें]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पायलट से आगे — राज्यव्यापी रोलआउट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F97316"/>
                </a:solidFill>
                <a:latin typeface="Nirmala UI"/>
              </a:rPr>
              <a:t>चरण 1 (90 दिन): </a:t>
            </a:r>
            <a:r>
              <a:rPr sz="1700" b="0">
                <a:solidFill>
                  <a:srgbClr val="1E293B"/>
                </a:solidFill>
                <a:latin typeface="Nirmala UI"/>
              </a:rPr>
              <a:t>देहरादून उत्तर पायलट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97316"/>
                </a:solidFill>
                <a:latin typeface="Nirmala UI"/>
              </a:rPr>
              <a:t>चरण 2 (6 महीने): </a:t>
            </a:r>
            <a:r>
              <a:rPr sz="1700" b="0">
                <a:solidFill>
                  <a:srgbClr val="1E293B"/>
                </a:solidFill>
                <a:latin typeface="Nirmala UI"/>
              </a:rPr>
              <a:t>गढ़वाल सर्कल — सभी देहरादून उप-मंडल + हरिद्वार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97316"/>
                </a:solidFill>
                <a:latin typeface="Nirmala UI"/>
              </a:rPr>
              <a:t>चरण 3 (12 महीने): </a:t>
            </a:r>
            <a:r>
              <a:rPr sz="1700" b="0">
                <a:solidFill>
                  <a:srgbClr val="1E293B"/>
                </a:solidFill>
                <a:latin typeface="Nirmala UI"/>
              </a:rPr>
              <a:t>कुमाऊँ सर्कल — नैनीताल, हल्द्वानी, रामनगर, आदि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F97316"/>
                </a:solidFill>
                <a:latin typeface="Nirmala UI"/>
              </a:rPr>
              <a:t>चरण 4: </a:t>
            </a:r>
            <a:r>
              <a:rPr sz="1700" b="0">
                <a:solidFill>
                  <a:srgbClr val="1E293B"/>
                </a:solidFill>
                <a:latin typeface="Nirmala UI"/>
              </a:rPr>
              <a:t>SCADA एकीकरण, ERP लाइव पोस्टिंग, उन्नत एनालिटिक्स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आज अनुरोधित निर्णय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1.  देहरादून उत्तर मंडल (DIV-DNN) के लिए 90-दिवसीय पायलट अनुमोदित करें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2.  पायलट टीम नामित करें — EE, 2 JE, 1 AE, 1 लेखा, 1 GIS ऑपरेटर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3.  डेटा माइग्रेशन के लिए 1–2 योजना नाम प्रदान करें (या डेमो योजनाएँ उपयोग करें)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4.  IT कनेक्टिविटी — पायलट उपयोगकर्ताओं के लिए ewumsujs.com ब्राउज़र पहुँच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E293B"/>
                </a:solidFill>
                <a:latin typeface="Nirmala UI"/>
              </a:rPr>
              <a:t>5.  स्टीयरिंग समिति — PRP Geospatial के साथ पाक्षिक समीक्षा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प्रश्न एवं चर्चा</a:t>
            </a:r>
          </a:p>
          <a:p>
            <a:r>
              <a:rPr sz="1800" b="0">
                <a:solidFill>
                  <a:srgbClr val="F97316"/>
                </a:solidFill>
                <a:latin typeface="Nirmala UI"/>
              </a:rPr>
              <a:t>प्रश्न एवं चर्चा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2009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मौजूदा UJS ERP/लेखा के साथ एकीकरण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जल जीवन मिशन / SFC रिपोर्टिंग संरेखण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भारत के भीतर डेटा स्वामित्व और होस्टिंग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293B"/>
                </a:solidFill>
                <a:latin typeface="Nirmala UI"/>
              </a:rPr>
              <a:t>•  हिंदी इंटरफ़ेस उपलब्धता (आंशिक — विस्तार जारी)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"/>
            <a:ext cx="101800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Nirmala UI"/>
              </a:rPr>
              <a:t>लाइव मंच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97316"/>
                </a:solidFill>
                <a:latin typeface="Nirmala UI"/>
              </a:rPr>
              <a:t>https://ewumsujs.com</a:t>
            </a:r>
          </a:p>
          <a:p>
            <a:pPr algn="ctr"/>
            <a:r>
              <a:rPr sz="1600" b="0">
                <a:solidFill>
                  <a:srgbClr val="64748B"/>
                </a:solidFill>
                <a:latin typeface="Nirmala UI"/>
              </a:rPr>
              <a:t>EWUMS — 17 मॉड्यूल लाइव · मंडल-स्कोप डेमो डेटा तैयार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82512"/>
            <a:ext cx="469392" cy="2560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Nirmala UI"/>
              </a:rPr>
              <a:t>PRP Geospatial Solutions | ewumsujs.com</a:t>
            </a:r>
          </a:p>
        </p:txBody>
      </p:sp>
      <p:pic>
        <p:nvPicPr>
          <p:cNvPr id="5" name="Picture 4" descr="pr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164592"/>
            <a:ext cx="704088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09728"/>
            <a:ext cx="12191695" cy="4114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91153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Nirmala UI"/>
              </a:rPr>
              <a:t>धन्यवाद — डिजिटल UJS के लिए EWUMS</a:t>
            </a:r>
          </a:p>
          <a:p>
            <a:r>
              <a:rPr sz="2200" b="0">
                <a:solidFill>
                  <a:srgbClr val="F97316"/>
                </a:solidFill>
                <a:latin typeface="Nirmala UI"/>
              </a:rPr>
              <a:t>धन्यवाद — डिजिटल UJS की ओर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115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Nirmala UI"/>
              </a:rPr>
              <a:t>पायलट अनुमोदित करें · सप्ताह 1 प्रशिक्षण निर्धारित करें · PRP औपचारिक पायलट योजना प्रस्तुत करे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97316"/>
                </a:solidFill>
                <a:latin typeface="Nirmala UI"/>
              </a:rPr>
              <a:t>https://ewumsujs.com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