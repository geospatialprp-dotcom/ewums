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सुप्रभात। आज हम EWUMS प्रस्तुत कर रहे हैं — UJS के लिए योजना, निर्माण, GIS, संचालन, बिलिंग और कार्यकारी देखरेख को कवर करने वाला एक एकीकृत डिजिटल मंच।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अधिकारी योजनाओं का प्रबंधन करने के बजाय डेटा का मिलान करने में समय व्यतीत करते हैं। EWUMS इसे अंत से अंत तक संबोधित करता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12-चरण DPR अनुमोदन पाइपलाइन — प्रभाग प्रस्ताव से निविदा प्रकाशन तक।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केवल Super Admin योजना बनाता है। प्रभाग टैग होने पर सभी करणप्रयाग कर्मचारी एक ही योजना देखते हैं।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विभाग बैठक से पहले पूर्ण प्रस्ताव-से-राजस्व + शिकायत प्रवाह का अभ्यास करें।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के दौरान कनेक्टिविटी अनुमति देने पर ब्राउज़र में खोलें।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615" y="320040"/>
            <a:ext cx="1844040" cy="1005840"/>
          </a:xfrm>
          <a:prstGeom prst="rect">
            <a:avLst/>
          </a:prstGeom>
        </p:spPr>
      </p:pic>
      <p:pic>
        <p:nvPicPr>
          <p:cNvPr id="6" name="Picture 5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480560"/>
            <a:ext cx="1424940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09728"/>
            <a:ext cx="12191695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85340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Nirmala UI"/>
              </a:rPr>
              <a:t>उत्तराखंड जल संस्थान के लिए
एकीकृत जल उपयोगिता प्रबंधन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97316"/>
                </a:solidFill>
                <a:latin typeface="Nirmala UI"/>
              </a:rPr>
              <a:t>एकीकृत जल उपयोगिता प्रबंधन प्रणाली — UJS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Nirmala UI"/>
              </a:rPr>
              <a:t>EWUMS — उद्यम जल उपयोगिता प्रबंधन प्रणाली (S2T2R)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97316"/>
                </a:solidFill>
                <a:latin typeface="Nirmala UI"/>
              </a:rPr>
              <a:t>https://ewumsujs.com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UJS को एकीकृत मंच की आवश्यकता क्यों है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चुनौती — बिखरी हुई जानकारी और मैन्युअल प्रक्रियाएँ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योजनाएँ स्प्रेडशीट, फ़ाइलों और अलग-अलग GIS उपकरणों में ट्रैक होती हैं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भौतिक बनाम वित्तीय प्रगति पर देरी से दृश्यता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मंडल-वार डेटा सिलो (गढ़वाल / कुमाऊँ सर्कल)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उपभोक्ता बिलिंग, शिकायतें और O&amp;M मानचित्र पर संपत्तियों से जुड़े नहीं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ऑडिट और अनुमोदन ट्रेल पुनर्निर्माण करना कठिन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EWUMS — एक मंच, पूर्ण जीवनचक्र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समाधान — योजना से O&amp;M तक एक ही प्रणाली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21 एकीकृत मॉड्यूल — 17 आज ewumsujs.com पर लाइव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DPR → निर्माण → MB → RA बिल → अंतिम बिल → GIS हस्तांतरण → O&amp;M → बिलिंग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UJS क्षेत्र संरचना के अनुरूप मंडल-स्कोप पहुँच (Migration 084 मंडल)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जिला सीमाओं के साथ वेब GIS (देहरादून, हरिद्वार, राज्यव्यापी)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मोबाइल बिलिंग और उपभोक्ता पोर्टल (जल मित्र)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UJS संगठन संरचना के लिए निर्मित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स्तर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भूमिकाएँ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मंच पहुँच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राज्य मुख्यालय (देहरादून)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MD, CGM,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राज्यव्यापी डैशबोर्ड और सभी मंडल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सर्कल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SE गढ़वाल / कुमाऊँ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सर्कल-व्यापी योजनाएँ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मंडल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EE, AE, 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मंडल-स्कोप परियोजनाएँ और GIS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क्षेत्र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ठेकेदार, लेखा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निर्माण वर्कफ़्लो और भुगतान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नागरिक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उपभोक्ता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जल मित्र पोर्टल — बिल, शिकायतें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irmala UI"/>
              </a:rPr>
              <a:t>संदर्भ मंडल: देहरादून उत्तर (DIV-DNN), हरिद्वार ग्रामीण (DIV-HRR), करणप्रयाग (DIV-KPG), नैनीताल (DIV-NTL)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चरण 1–2: DPR व अनुमोदन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योजना पाइपलाइन (12 चरण)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1.  DPR प्रस्ताव प्रारंभ (प्रभाग EE/JE)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2.  मुख्यालय समीक्षा → TAC → सचिवालय → स्वीकृति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3.  निविदा प्रकाशित → परियोजना के लिए तैयार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irmala UI"/>
              </a:rPr>
              <a:t>स्क्रीन: /dpr-planning · /workflows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चरण 3–4: भूमि व परियोजना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भूमि अधिग्रहण → परियोजना पंजीकरण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GIS पर पाइपलाइन ट्रेस + भूखंड मंजूरी (/land-acquisition)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Super Admin निविदा-प्रकाशित DPR से परियोजना बनाता है (/projects)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प्रभाग कर्मचारी लॉगिन स्वतः बनते हैं (JE, AE, EE, लेखा)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माइलस्टोन व बजट स्वीकृत DPR से स्वतः जुड़ते हैं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चरण 5–6: GIS व निर्माण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मानचित्र पर निर्माण — हर रुपये का हिसाब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मानचित्र संपत्ति: पाइप, जलाशय, FHTC (/map)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दैनिक DPR → MB → BOQ समाधान → RA बिल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JE → AE → EE अनुमोदन श्रृंखला — पूर्ण ऑडिट ट्रेल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निर्माण डैशबोर्ड पर भौतिक % व वित्तीय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irmala UI"/>
              </a:rPr>
              <a:t>स्क्रीन: /projects/{id}/construction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चरण 7: O&amp;M हस्तांतरण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कमीशनिंग व O&amp;M सौंपना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पूर्णता चेकलिस्ट — MB, GIS, FHTC, कमीशनिंग प्रमाणपत्र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हस्तांतरण प्रमाणपत्र + संपत्ति रजिस्टर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योजना बिलिंग और उपभोक्ता सेवा के लिए संचालन-तैयार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irmala UI"/>
              </a:rPr>
              <a:t>स्क्रीन: /om#handover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चरण 8–9: उपभोक्ता व राजस्व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FHTC पंजीकरण → बिलिंग → राजस्व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1.  उपभोक्ता पंजीकरण (FHTC + मोबाइल) योजना से जुड़ा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2.  मोबाइल बिलिंग से मीटर रीडिंग (/mobile-billing)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3.  बिल जनरेशन → वसूली और बकाया ट्रैकिंग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4.  15.12 रिपोर्ट · भूगोल के अनुसार राजस्व GIS एनालिटिक्स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irmala UI"/>
              </a:rPr>
              <a:t>स्क्रीन: /billing · /mobile-billing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चरण 10: नागरिक शिकायत (केवल जल मित्र)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शिकायत — नागरिक दर्ज करे, विभाग निपटाए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कौन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कार्य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उपभोक्ता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जल मित्र से शिकायत दर्ज करता है (/portal)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टिकट देखता है → JE को सौंपता है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क्षेत्र में समाधान करता है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सिस्टम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सौंपने पर ईमेल सूचना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irmala UI"/>
              </a:rPr>
              <a:t>महत्वपूर्ण: कर्मचारी शिकायत दर्ज नहीं करते — केवल उपभोक्ता। प्रवाह: टिकट जनरेट → असाइन → समाधान → प्रतिक्रिया → बंद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चरण 11–12: कमांड सेंटर व ऑडिट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कमांड सेंटर + ऑडिट ट्रेल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KPI: संपत्ति, प्रगति, राजस्व, शिकायतें, SLA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प्रभाग या राज्यव्यापी दृश्य (/dashboard)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हर उपयोगकर्ता क्रिया दर्ज — वर्कफ़्लो, मानचित्र, अनुमोदन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ऑडिट ट्रेल — उपयोगकर्ता, प्रभाग, पिछले 24 घंटे फ़िल्टर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irmala UI"/>
              </a:rPr>
              <a:t>स्क्रीन: /dashboard · /admin/audit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लाइव डेमो — करणप्रयाग प्रवाह (15 मिनट)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लाइव डेमो — करणप्रयाग प्रवाह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चरण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कौन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कार्य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योजना बनाए (करणप्रयाग प्रभाग)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उपभोक्ता पंजीकृत करे (FHTC + मोबाइल)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उपभोक्ता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जल मित्र — शिकायत दर्ज करे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शिकायत इनबॉक्स — JE को सौंपे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सभी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सूचना लॉग + ईमेल अलर्ट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irmala UI"/>
              </a:rPr>
              <a:t>लॉगिन: admin@egip.local / Admin@123 · ee.kpg@egip.local / EE@123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प्रस्तावित पायलट — देहरादून उत्तर मंडल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90-दिवसीय पायलट प्रस्ताव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दायरा: 1 मंडल (DIV-DNN), 1–2 सक्रिय योजनाएँ, पूर्ण निर्माण + O&amp;M + बिलिंग चक्र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समयरेखा: 90 दिन — PILOT-PLAN-90-DAYS.md देखें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पायलट मंडल के लिए 100% योजना डेटा डिजिटाइज़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RA बिल चक्र समय 30% कम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EE/SE द्वारा साप्ताहिक कार्यकारी डैशबोर्ड समीक्षा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50+ क्षेत्र कर्मचारी प्रशिक्षित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अपेक्षित लाभ और ROI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क्षेत्र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वर्तमान समस्या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rmala UI"/>
                        </a:rPr>
                        <a:t>EWUMS लाभ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प्रगति रिपोर्टिंग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मैन्युअल समेकन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रियल-टाइम डैशबोर्ड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भुगतान में देरी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कागज़ MB → RA अंतराल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डिजिटल वर्कफ़्लो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संपत्ति रिकॉर्ड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असंबद्ध GIS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एकल रजिस्ट्री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उपभोक्ता सेवा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केवल फ़ोन शिकायतें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पोर्टल + SLA ट्रैकिंग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ऑडिट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फ़ाइल पुनर्निर्माण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Nirmala UI"/>
                        </a:rPr>
                        <a:t>अपरिवर्तनीय ऑडिट लॉग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irmala UI"/>
              </a:rPr>
              <a:t>गुणात्मक ROI: तेज़ निर्णय, डुप्लिकेट डेटा प्रविष्टि में कमी, SFC/GoUK रिपोर्टिंग के लिए बेहतर निधि उपयोग दृश्यता।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PRP Geospatial Solutions — आपका कार्यान्वयन साझेदार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EWUMS/S2T2R का उत्पाद स्वामी और कार्यान्वयनकर्ता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उत्तराखंड-केंद्रित GIS और जल उपयोगिता डोमेन विशेषज्ञता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Migration 084 मंडल संरचना पहले से कॉन्फ़िगर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होस्टिंग: ewumsujs.com (प्रोडक्शन-तैयार डेमो वातावरण)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सहायता मॉडल: प्रशिक्षण, डेटा माइग्रेशन, चरणबद्ध रोलआउट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irmala UI"/>
              </a:rPr>
              <a:t>संपर्क: PRP Geospatial Solutions — [बैठक के लिए संपर्क विवरण जोड़ें]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पायलट से आगे — राज्यव्यापी रोलआउट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  <a:latin typeface="Nirmala UI"/>
              </a:rPr>
              <a:t>चरण 1 (90 दिन): </a:t>
            </a:r>
            <a:r>
              <a:rPr sz="1700" b="0">
                <a:solidFill>
                  <a:srgbClr val="1E293B"/>
                </a:solidFill>
                <a:latin typeface="Nirmala UI"/>
              </a:rPr>
              <a:t>देहरादून उत्तर पायलट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  <a:latin typeface="Nirmala UI"/>
              </a:rPr>
              <a:t>चरण 2 (6 महीने): </a:t>
            </a:r>
            <a:r>
              <a:rPr sz="1700" b="0">
                <a:solidFill>
                  <a:srgbClr val="1E293B"/>
                </a:solidFill>
                <a:latin typeface="Nirmala UI"/>
              </a:rPr>
              <a:t>गढ़वाल सर्कल — सभी देहरादून उप-मंडल + हरिद्वार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  <a:latin typeface="Nirmala UI"/>
              </a:rPr>
              <a:t>चरण 3 (12 महीने): </a:t>
            </a:r>
            <a:r>
              <a:rPr sz="1700" b="0">
                <a:solidFill>
                  <a:srgbClr val="1E293B"/>
                </a:solidFill>
                <a:latin typeface="Nirmala UI"/>
              </a:rPr>
              <a:t>कुमाऊँ सर्कल — नैनीताल, हल्द्वानी, रामनगर, आदि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  <a:latin typeface="Nirmala UI"/>
              </a:rPr>
              <a:t>चरण 4: </a:t>
            </a:r>
            <a:r>
              <a:rPr sz="1700" b="0">
                <a:solidFill>
                  <a:srgbClr val="1E293B"/>
                </a:solidFill>
                <a:latin typeface="Nirmala UI"/>
              </a:rPr>
              <a:t>SCADA एकीकरण, ERP लाइव पोस्टिंग, उन्नत एनालिटिक्स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आज अनुरोधित निर्णय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1.  देहरादून उत्तर मंडल (DIV-DNN) के लिए 90-दिवसीय पायलट अनुमोदित करें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2.  पायलट टीम नामित करें — EE, 2 JE, 1 AE, 1 लेखा, 1 GIS ऑपरेटर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3.  डेटा माइग्रेशन के लिए 1–2 योजना नाम प्रदान करें (या डेमो योजनाएँ उपयोग करें)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4.  IT कनेक्टिविटी — पायलट उपयोगकर्ताओं के लिए ewumsujs.com ब्राउज़र पहुँच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Nirmala UI"/>
              </a:rPr>
              <a:t>5.  स्टीयरिंग समिति — PRP Geospatial के साथ पाक्षिक समीक्षा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प्रश्न एवं चर्चा</a:t>
            </a:r>
          </a:p>
          <a:p>
            <a:r>
              <a:rPr sz="1800" b="0">
                <a:solidFill>
                  <a:srgbClr val="F97316"/>
                </a:solidFill>
                <a:latin typeface="Nirmala UI"/>
              </a:rPr>
              <a:t>प्रश्न एवं चर्चा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मौजूदा UJS ERP/लेखा के साथ एकीकरण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जल जीवन मिशन / SFC रिपोर्टिंग संरेखण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भारत के भीतर डेटा स्वामित्व और होस्टिंग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Nirmala UI"/>
              </a:rPr>
              <a:t>•  हिंदी इंटरफ़ेस उपलब्धता (आंशिक — विस्तार जारी)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irmala UI"/>
              </a:rPr>
              <a:t>लाइव मंच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97316"/>
                </a:solidFill>
                <a:latin typeface="Nirmala UI"/>
              </a:rPr>
              <a:t>https://ewumsujs.com</a:t>
            </a:r>
          </a:p>
          <a:p>
            <a:pPr algn="ctr"/>
            <a:r>
              <a:rPr sz="1600" b="0">
                <a:solidFill>
                  <a:srgbClr val="64748B"/>
                </a:solidFill>
                <a:latin typeface="Nirmala UI"/>
              </a:rPr>
              <a:t>EWUMS — 17 मॉड्यूल लाइव · मंडल-स्कोप डेमो डेटा तैयार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82512"/>
            <a:ext cx="469392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Nirmala UI"/>
              </a:rPr>
              <a:t>PRP Geospatial Solutions | ewumsujs.com</a:t>
            </a:r>
          </a:p>
        </p:txBody>
      </p:sp>
      <p:pic>
        <p:nvPicPr>
          <p:cNvPr id="5" name="Picture 4" descr="pr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164592"/>
            <a:ext cx="704088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9728"/>
            <a:ext cx="12191695" cy="411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Nirmala UI"/>
              </a:rPr>
              <a:t>धन्यवाद — डिजिटल UJS के लिए EWUMS</a:t>
            </a:r>
          </a:p>
          <a:p>
            <a:r>
              <a:rPr sz="2200" b="0">
                <a:solidFill>
                  <a:srgbClr val="F97316"/>
                </a:solidFill>
                <a:latin typeface="Nirmala UI"/>
              </a:rPr>
              <a:t>धन्यवाद — डिजिटल UJS की ओर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115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Nirmala UI"/>
              </a:rPr>
              <a:t>पायलट अनुमोदित करें · सप्ताह 1 प्रशिक्षण निर्धारित करें · PRP औपचारिक पायलट योजना प्रस्तुत करे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Nirmala UI"/>
              </a:rPr>
              <a:t>https://ewumsujs.com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