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Today we present EWUMS — a single digital platform covering planning, construction, GIS, operations, billing, and executive oversight for UJS.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Officers spend time reconciling data instead of managing schemes. EWUMS addresses this end-to-end.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12-stage DPR approval pipeline — from division proposal to tender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Super Admin creates schemes. Division is tagged at creation — all Karanprayag staff see the same project end-to-end.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Rehearse full proposal-to-revenue + complaint flow before department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in browser during Q&amp;A if connectivity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926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Integrated Water Utility Management
for Uttarakhand Jal Sansthan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F97316"/>
                </a:solidFill>
                <a:latin typeface="Calibri"/>
              </a:rPr>
              <a:t>एकीकृत जल उपयोगिता प्रबंधन प्रणाली — UJS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115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4748B"/>
                </a:solidFill>
                <a:latin typeface="Calibri"/>
              </a:rPr>
              <a:t>EWUMS — Enterprises Water Utility Management System (S2T2R)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Calibri"/>
              </a:rPr>
              <a:t>https://ewumsujs.com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Why UJS Needs a Unified Platform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चुनौती — बिखरी हुई जानकारी और manual प्रक्रियाएँ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Schemes tracked in spreadsheets, files, and separate GIS tools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Delayed visibility on physical vs financial progress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Division-wise data silos (Garhwal / Kumaon circles)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Consumer billing, complaints, and O&amp;M not linked to assets on map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Audit and approval trails difficult to reconstruct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EWUMS — One Platform, Full Lifecycle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समाधान — योजना से O&amp;M तक एक ही प्रणाली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21 integrated modules — 17 live today on ewumsujs.com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DPR → Construction → MB → RA Bill → Final Bill → GIS handover → O&amp;M → Billing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Division-scoped access aligned to UJS field structure (Migration 084 divisions)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Web GIS with district boundaries (Dehradun, Haridwar, statewide)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Mobile billing and consumer portal (Jal Mitra)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Built for UJS Organisation Structure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Platform Access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State HQ (Dehradun)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MD, CGM,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Statewide dashboard &amp; all divisions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Circle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SE Garhwal / Kumaon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Circle-wide schemes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EE, AE, 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Division-scoped projects &amp; GIS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Contractor, 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Construction workflow &amp; payments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Citizen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Consumer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Jal Mitra portal — bills, complaints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Reference divisions: Dehradun North (DIV-DNN), Haridwar Rural (DIV-HRR), Karanprayag (DIV-KPG), Nainital (DIV-NTL)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Stage 1–2: DPR &amp; Approval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योजना पाइपलाइन (12 चरण)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1.  DPR proposal initiation (Division EE/JE)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2.  HQ review → TAC → Secretariat → Sanction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3.  Tender published → ready for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Screens: /dpr-planning · /workflows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Stage 3–4: Land &amp; Project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भूमि अधिग्रहण → परियोजना पंजीकरण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GIS pipeline trace + parcel clearances (/land-acquisition)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HQ / Super Admin registers project from tender-published DPR (/projects)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Division staff logins auto-provisioned (JE, AE, EE, Accounts)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Milestones and budget auto-linked to approved DPR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Stage 5–6: GIS &amp; Construction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मानचित्र पर निर्माण — हर रुपये का हिसाब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Map assets: pipe, reservoir, FHTC (/map)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Daily DPR → MB → BOQ reconciliation → RA Bill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JE → AE → EE approval chain with full audit trail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Physical % and financial % on construction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Screen: /projects/{id}/construction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Stage 7: Handover to O&amp;M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कमीशनिंग व O&amp;M सौंपना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Completion checklist — MB, GIS, FHTC, commissioning certificates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Handover certificate + asset register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Scheme becomes operational for billing and consumer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Screen: /om#handover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Stage 8–9: Consumers &amp; Revenue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FHTC पंजीकरण → बिलिंग → राजस्व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1.  Register consumer (FHTC + mobile) linked to scheme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2.  Meter reading via mobile billing (/mobile-billing)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3.  Bill generation → collection and arrears tracking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4.  15.12 reports · revenue GIS analytics by geography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Screens: /billing · /mobile-billing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Stage 10: Citizen Complaints (Jal Mitra Only)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शिकायत — नागरिक दर्ज करे, विभाग निपटाए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Consumer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Registers complaint via Jal Mitra (/portal)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Sees ticket → assigns JE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Resolves in field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Email alert on assignment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IMPORTANT: Staff do NOT register complaints — only consumers do. Flow: Ticket Generated → Assigned → Resolution → Feedback → Closed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Stage 11–12: Command Center &amp; Audit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कमांड सेंटर + ऑडिट ट्रेल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KPIs: assets, progress, revenue, complaints, SLA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Division or statewide view (/dashboard)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Every user action logged — workflows, map access, approvals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Audit Trail page — filter by user, division, last 24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Screens: /dashboard · /admin/audit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Live Demo — Karanprayag Flow (15 min)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लाइव डेमो — करणप्रयाग प्रवाह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Create scheme (Karanprayag division)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Register consumer (FHTC + mobile)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Consumer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Jal Mitra — lodge complaint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Complaints inbox — assign JE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Notification log + email alert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Login: admin@egip.local / Admin@123 · ee.kpg@egip.local / EE@123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Proposed Pilot — Dehradun North Division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90-दिवसीय पायलट प्रस्ताव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Scope: 1 division (DIV-DNN), 1–2 active schemes, full construction + O&amp;M + billing cycle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Timeline: 90 days — see PILOT-PLAN-90-DAYS.md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100% scheme data digitised for pilot division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RA bill cycle time reduced by 30%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Executive dashboard reviewed weekly by EE/SE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50+ field staff trained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Expected Benefits &amp; ROI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Current Pain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EWUMS Benefit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Progress reporting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Manual consolidation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Real-time dashboard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Payment delays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Paper MB → RA 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Digital workflow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Asset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Disconnected GIS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Single registry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Consumer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Phone-only complaints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Portal + SLA tracking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File reconstruction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Immutable audit log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Qualitative ROI: Faster decision-making, reduced duplicate data entry, improved fund utilisation visibility for SFC/GoUK reporting.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PRP Geospatial Solutions — Your Implementation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Product owner and implementer of EWUMS/S2T2R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Uttarakhand-focused GIS and water utility domain expertise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Migration 084 division structure already configured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Hosting: ewumsujs.com (production-ready demo environment)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Support model: training, data migration, phased rollout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Contact: PRP Geospatial Solutions — [Add contact details for meeting]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Beyond Pilot — Statewide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F97316"/>
                </a:solidFill>
                <a:latin typeface="Calibri"/>
              </a:rPr>
              <a:t>Phase 1 (90 days): </a:t>
            </a:r>
            <a:r>
              <a:rPr sz="1700" b="0">
                <a:solidFill>
                  <a:srgbClr val="1E293B"/>
                </a:solidFill>
                <a:latin typeface="Calibri"/>
              </a:rPr>
              <a:t>Dehradun North pilot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97316"/>
                </a:solidFill>
                <a:latin typeface="Calibri"/>
              </a:rPr>
              <a:t>Phase 2 (6 months): </a:t>
            </a:r>
            <a:r>
              <a:rPr sz="1700" b="0">
                <a:solidFill>
                  <a:srgbClr val="1E293B"/>
                </a:solidFill>
                <a:latin typeface="Calibri"/>
              </a:rPr>
              <a:t>Garhwal Circle — all Dehradun sub-divisions + Haridwar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97316"/>
                </a:solidFill>
                <a:latin typeface="Calibri"/>
              </a:rPr>
              <a:t>Phase 3 (12 months): </a:t>
            </a:r>
            <a:r>
              <a:rPr sz="1700" b="0">
                <a:solidFill>
                  <a:srgbClr val="1E293B"/>
                </a:solidFill>
                <a:latin typeface="Calibri"/>
              </a:rPr>
              <a:t>Kumaon Circle — Nainital, Haldwani, Ramnagar, etc.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97316"/>
                </a:solidFill>
                <a:latin typeface="Calibri"/>
              </a:rPr>
              <a:t>Phase 4: </a:t>
            </a:r>
            <a:r>
              <a:rPr sz="1700" b="0">
                <a:solidFill>
                  <a:srgbClr val="1E293B"/>
                </a:solidFill>
                <a:latin typeface="Calibri"/>
              </a:rPr>
              <a:t>SCADA integration, ERP live posting, advanced analytics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Decisions Requested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1.  Approve 90-day pilot for Dehradun North Division (DIV-DNN)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2.  Nominate pilot team — EE, 2 JE, 1 AE, 1 Accounts, 1 GIS operator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3.  Provide 1–2 scheme names for data migration (or use demo schemes)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4.  IT connectivity — browser access to ewumsujs.com for pilot users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5.  Steering committee — fortnightly review with PRP Geospatial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Questions &amp; Discussion</a:t>
            </a:r>
          </a:p>
          <a:p>
            <a:r>
              <a:rPr sz="1800" b="0">
                <a:solidFill>
                  <a:srgbClr val="F97316"/>
                </a:solidFill>
                <a:latin typeface="Calibri"/>
              </a:rPr>
              <a:t>प्रश्न एवं चर्चा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Integration with existing UJS ERP/accounting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Jal Jeevan Mission / SFC reporting alignment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Data ownership and hosting within India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•  Hindi interface availability (partial — expanding)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Live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97316"/>
                </a:solidFill>
                <a:latin typeface="Calibri"/>
              </a:rPr>
              <a:t>https://ewumsujs.com</a:t>
            </a:r>
          </a:p>
          <a:p>
            <a:pPr algn="ctr"/>
            <a:r>
              <a:rPr sz="1600" b="0">
                <a:solidFill>
                  <a:srgbClr val="64748B"/>
                </a:solidFill>
                <a:latin typeface="Calibri"/>
              </a:rPr>
              <a:t>EWUMS — 17 modules live · Division-scoped demo data ready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PRP Geospatial Solutions | ewumsujs.com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4114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1153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Thank You — EWUMS for a Digital UJS</a:t>
            </a:r>
          </a:p>
          <a:p>
            <a:r>
              <a:rPr sz="2200" b="0">
                <a:solidFill>
                  <a:srgbClr val="F97316"/>
                </a:solidFill>
                <a:latin typeface="Calibri"/>
              </a:rPr>
              <a:t>धन्यवाद — डिजिटल UJS की ओर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115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libri"/>
              </a:rPr>
              <a:t>Approve pilot · Schedule training Week 1 · PRP to submit formal pilot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97316"/>
                </a:solidFill>
                <a:latin typeface="Calibri"/>
              </a:rPr>
              <a:t>https://ewumsujs.com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