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we present EWUMS — a single digital platform covering planning, construction, GIS, operations, billing, and executive oversight for UJS.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Officers spend time reconciling data instead of managing schemes. EWUMS addresses this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proposal to final bill, every step is logged with role-based approvals (JE → AE → EE → Finance).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— 2 minutes. Rehearse with demo-seed.sql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—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—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in browser during Q&amp;A if connectivity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Integrated Water Utility Management
for Uttarakhand Jal Sansthan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97316"/>
                </a:solidFill>
                <a:latin typeface="Calibri"/>
              </a:rPr>
              <a:t>एकीकृत जल उपयोगिता प्रबंधन प्रणाली — UJS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EWUMS — Enterprises Water Utility Management System (S2T2R)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Calibri"/>
              </a:rPr>
              <a:t>https://ewumsujs.com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Why UJS Needs a Unified Platform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चुनौती — बिखरी हुई जानकारी और manual प्रक्रियाएँ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Schemes tracked in spreadsheets, files, and separate GIS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Delayed visibility on physical vs financial progress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Division-wise data silos (Garhwal / Kumaon circles)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Consumer billing, complaints, and O&amp;M not linked to assets on map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Audit and approval trails difficult to reconstruct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EWUMS — One Platform, Full Lifecycle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समाधान — योजना से O&amp;M तक एक ही प्रणाली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21 integrated modules — 17 live today on ewumsujs.com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DPR → Construction → MB → RA Bill → Final Bill → GIS handover → O&amp;M → Billing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Division-scoped access aligned to UJS field structure (Migration 084 divisions)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Web GIS with district boundaries (Dehradun, Haridwar, statewide)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Mobile billing and consumer portal (Jal Mitra)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Built for UJS Organisation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Platform Access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State HQ (Dehradun)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MD, CGM,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Statewide dashboard &amp; all divisions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SE Garhwal / Kumaon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Circle-wide schemes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EE, AE, 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Division-scoped projects &amp; GIS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Contractor,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Construction workflow &amp; payments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Jal Mitra portal — bills, complaints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Reference divisions: Dehradun North (DIV-DNN), Haridwar Rural (DIV-HRR), Karanprayag (DIV-KPG), Nainital (DIV-NTL)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Planning &amp; Construction — Live Modules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योजना एवं निर्माण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1.  DPR &amp; Planning Management — 12-stage approval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2.  Construction Management — progress dashboard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3.  MB Management — measurement &amp; verification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4.  BOQ &amp; Quantity Reconciliation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5.  RA Bill &amp; Contractor Payment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6.  Final Bill &amp; Project Closure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7.  Land Acquisition Management — GIS parcel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GIS, Operations &amp; Revenue — Live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GIS &amp; Assets: </a:t>
            </a:r>
            <a:r>
              <a:rPr sz="1600" b="0">
                <a:solidFill>
                  <a:srgbClr val="1E293B"/>
                </a:solidFill>
                <a:latin typeface="Calibri"/>
              </a:rPr>
              <a:t>Web map explorer, asset registry, feature classes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Operations: </a:t>
            </a:r>
            <a:r>
              <a:rPr sz="1600" b="0">
                <a:solidFill>
                  <a:srgbClr val="1E293B"/>
                </a:solidFill>
                <a:latin typeface="Calibri"/>
              </a:rPr>
              <a:t>O&amp;M workflow (14 stages), SCADA/IoT, water quality, complaints, consumers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Commercial: </a:t>
            </a:r>
            <a:r>
              <a:rPr sz="1600" b="0">
                <a:solidFill>
                  <a:srgbClr val="1E293B"/>
                </a:solidFill>
                <a:latin typeface="Calibri"/>
              </a:rPr>
              <a:t>Billing &amp; revenue, ERP/GL integration, 15.12 reports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Intelligence: </a:t>
            </a:r>
            <a:r>
              <a:rPr sz="1600" b="0">
                <a:solidFill>
                  <a:srgbClr val="1E293B"/>
                </a:solidFill>
                <a:latin typeface="Calibri"/>
              </a:rPr>
              <a:t>Executive dashboard, asset lifecycle,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Partial (roadmap): Mobile workforce expansion, enterprise DMS, QR scan app, ML predictive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Location Is the Common Thread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GIS — हर asset और scheme map पर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District-locked map jurisdiction (Dehradun, Haridwar envelopes)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Pipeline, reservoir, FHTC layers linked to projects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Land acquisition: auto alignment trace + cadastral intersect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Revenue GIS analytics — collection by geography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Satellite basemap (Google / Esri) for field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Demo: Map Explorer → toggle Dehradun district → show scheme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1 — Command Center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कार्यकारी डैशबोर्ड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Login: admin@egip.local / Admin@123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Navigate: Sidebar → Executive Dashboard (/dashboard)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Show: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Five KPI cards — assets, alerts, critical assets, project progress, health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Project progress chart — Clement Town &amp; Bahadarabad schemes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Critical assets table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Link to 20 platform modules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Script: "From one screen, leadership sees statewide health. Each KPI is live from PostgreSQL — not a static report."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2 — Scheme Execution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निर्माण प्रवाह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Login: je.dnn@egip.local / JE@123 (Dehradun North JE)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Navigate: Projects → Clement Town Water Supply Scheme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Show: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Construction dashboard — physical 72% / financial 65%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MB entry (measurement book)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BOQ reconciliation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RA Bill pending AE approval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Workflow inbox — approve as AE (ae.dnn@egip.local)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Script: "Division staff see only their schemes. JE measures, AE checks, EE approves — full audit trail."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3 — Revenue &amp; Citizen Service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बिलिंग एवं शिकायत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Login: accounts.hrr@egip.local / Accounts@123 (Haridwar Rural)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Navigate: Billing → Revenue KPIs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Show: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Consumer connections and collection efficiency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Sample bill for Bahadarabad consumer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Complaint register (if seeded)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 • Optional: Jal Mitra consumer portal — FHTC-HRR-DEMO-001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Script: "Post-commissioning, the same platform manages tariffs, meter readings, and consumer self-service."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Field Operations — Mobile Ready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मोबाइल — field billing और GPS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Mobile billing route (/mobile-billing) — meter reading, offline queue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GPS and photo evidence on readings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Consumer portal — OTP login, Hindi/English/Garhwali/Kumaoni (Jal Mitra)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QR asset identity (partial — scan API live, dedicated app roadmap)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Trust &amp; Compliance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सुरक्षा, audit trail और division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Role-based access — 25+ UJS roles (MD, SE, EE, JE, billing officer, etc.)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Division isolation — Haridwar JE cannot see Dehradun North data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Complete audit log — user actions, workflow events, map access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Workflow engine — configurable JE → AE → EE → Finance chains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Session authentication — JWT, permission guards on every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Demo pointer: Audit Trail page — filter last 24 hours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Proposed Pilot — Dehradun North Division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90-दिवसीय पायलट प्रस्ताव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Scope: 1 division (DIV-DNN), 1–2 active schemes, full construction + O&amp;M + billing cycle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Timeline: 90 days — see PILOT-PLAN-90-DAYS.md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100% scheme data digitised for pilot division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RA bill cycle time reduced by 30%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Executive dashboard reviewed weekly by EE/SE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50+ field staff trained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Expected Benefits &amp; ROI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Current Pain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EWUMS Benefit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Progress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Manual consolidation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Real-time dashboard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Payment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Paper MB → RA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Digital workflow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Asset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Disconnected 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Single registry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Consumer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Phone-only complaints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Portal + SLA tracking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File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Immutable audit log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Qualitative ROI: Faster decision-making, reduced duplicate data entry, improved fund utilisation visibility for SFC/GoUK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PRP Geospatial Solutions — Your Implementation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Product owner and implementer of EWUMS/S2T2R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Uttarakhand-focused GIS and water utility domain expertise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Migration 084 division structure already configured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Hosting: ewumsujs.com (production-ready demo environment)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Support model: training, data migration, phased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Contact: PRP Geospatial Solutions — [Add contact details for meeting]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Beyond Pilot — Statewide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Phase 1 (90 days): </a:t>
            </a:r>
            <a:r>
              <a:rPr sz="1700" b="0">
                <a:solidFill>
                  <a:srgbClr val="1E293B"/>
                </a:solidFill>
                <a:latin typeface="Calibri"/>
              </a:rPr>
              <a:t>Dehradun North pilot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Phase 2 (6 months): </a:t>
            </a:r>
            <a:r>
              <a:rPr sz="1700" b="0">
                <a:solidFill>
                  <a:srgbClr val="1E293B"/>
                </a:solidFill>
                <a:latin typeface="Calibri"/>
              </a:rPr>
              <a:t>Garhwal Circle — all Dehradun sub-divisions + Haridwar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Phase 3 (12 months): </a:t>
            </a:r>
            <a:r>
              <a:rPr sz="1700" b="0">
                <a:solidFill>
                  <a:srgbClr val="1E293B"/>
                </a:solidFill>
                <a:latin typeface="Calibri"/>
              </a:rPr>
              <a:t>Kumaon Circle — Nainital, Haldwani, Ramnagar, etc.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Phase 4: </a:t>
            </a:r>
            <a:r>
              <a:rPr sz="1700" b="0">
                <a:solidFill>
                  <a:srgbClr val="1E293B"/>
                </a:solidFill>
                <a:latin typeface="Calibri"/>
              </a:rPr>
              <a:t>SCADA integration, ERP live posting, advanced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Decisions Requested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1.  Approve 90-day pilot for Dehradun North Division (DIV-DNN)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2.  Nominate pilot team — EE, 2 JE, 1 AE, 1 Accounts, 1 GIS operator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3.  Provide 1–2 scheme names for data migration (or use demo schemes)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4.  IT connectivity — browser access to ewumsujs.com for pilot users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5.  Steering committee — fortnightly review with PRP Geospatial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Questions &amp; Discussion</a:t>
            </a:r>
          </a:p>
          <a:p>
            <a:r>
              <a:rPr sz="1800" b="0">
                <a:solidFill>
                  <a:srgbClr val="F97316"/>
                </a:solidFill>
                <a:latin typeface="Calibri"/>
              </a:rPr>
              <a:t>प्रश्न एवं चर्चा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Integration with existing UJS ERP/accounting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Jal Jeevan Mission / SFC reporting alignment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Data ownership and hosting within India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Hindi interface availability (partial — expanding)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Live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  <a:latin typeface="Calibri"/>
              </a:rPr>
              <a:t>https://ewumsujs.com</a:t>
            </a:r>
          </a:p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EWUMS — 17 modules live · Division-scoped demo data 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PRP Geospatial Solutions | ewumsujs.com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Thank You — EWUMS for a Digital UJS</a:t>
            </a:r>
          </a:p>
          <a:p>
            <a:r>
              <a:rPr sz="2200" b="0">
                <a:solidFill>
                  <a:srgbClr val="F97316"/>
                </a:solidFill>
                <a:latin typeface="Calibri"/>
              </a:rPr>
              <a:t>धन्यवाद — डिजिटल UJS की ओर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115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Approve pilot · Schedule training Week 1 · PRP to submit formal pilot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Calibri"/>
              </a:rPr>
              <a:t>https://ewumsujs.com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